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8"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70"/>
    <p:restoredTop sz="94650"/>
  </p:normalViewPr>
  <p:slideViewPr>
    <p:cSldViewPr snapToGrid="0">
      <p:cViewPr>
        <p:scale>
          <a:sx n="97" d="100"/>
          <a:sy n="97" d="100"/>
        </p:scale>
        <p:origin x="328"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343A9-6CCC-36C7-7027-B1F60678CB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313755-22AE-B072-DF1B-C662EE98E2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114D40-874B-F164-C7E0-C7AE60AF7FEF}"/>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5" name="Footer Placeholder 4">
            <a:extLst>
              <a:ext uri="{FF2B5EF4-FFF2-40B4-BE49-F238E27FC236}">
                <a16:creationId xmlns:a16="http://schemas.microsoft.com/office/drawing/2014/main" id="{8761704F-BC95-6B5E-1A29-B86E57BEE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701546-79BB-8B11-AE79-3A2F36F660A4}"/>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334229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58F3-86B5-FD38-4BB5-F57BFA430D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6C417F-C9E7-8E54-2255-50C7AFA2A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7B950-2ACA-F922-2B76-DDE74EA62389}"/>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5" name="Footer Placeholder 4">
            <a:extLst>
              <a:ext uri="{FF2B5EF4-FFF2-40B4-BE49-F238E27FC236}">
                <a16:creationId xmlns:a16="http://schemas.microsoft.com/office/drawing/2014/main" id="{7DC7D234-BD53-6AA4-A05E-7042E876A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A6ADE-C148-C17A-6A57-F95ED21EFE4B}"/>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1148374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DD78-F8F5-487D-B17F-DDB6E43FC9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E60B0C-2A0D-A879-269D-1EEAC91D7A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306AA-BACD-BA5B-A6AE-01C54A0C0A37}"/>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5" name="Footer Placeholder 4">
            <a:extLst>
              <a:ext uri="{FF2B5EF4-FFF2-40B4-BE49-F238E27FC236}">
                <a16:creationId xmlns:a16="http://schemas.microsoft.com/office/drawing/2014/main" id="{67F0A5E8-5602-35A7-870F-1A74DA4A67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C7707-3697-F795-6C47-1B0F2A29B062}"/>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1595510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D8D81-FA83-2D98-3569-7372CC7821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E020D2-007C-9A02-6FA4-1BC379193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DCE8FB-8C2E-A511-E140-D57585933E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840F53-44BF-C87F-5FE2-37C68B3032AB}"/>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6" name="Footer Placeholder 5">
            <a:extLst>
              <a:ext uri="{FF2B5EF4-FFF2-40B4-BE49-F238E27FC236}">
                <a16:creationId xmlns:a16="http://schemas.microsoft.com/office/drawing/2014/main" id="{5678C5FA-48C7-2B57-CB5F-4816D8A74D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36D2D0-027E-19A0-A654-FDDA41BC775F}"/>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3931673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5275-22C5-D9FE-0C62-3FD308768F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1C71C4-2AC8-4F75-A062-3FD30FA77A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AA1517-2674-5910-C46A-3DCD80E994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BCA6C5-DE16-E19B-2262-1567E3D73C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677014-371D-9558-1445-4881E91BE3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C85E9F-F5D0-877E-4575-B857B2C84B53}"/>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8" name="Footer Placeholder 7">
            <a:extLst>
              <a:ext uri="{FF2B5EF4-FFF2-40B4-BE49-F238E27FC236}">
                <a16:creationId xmlns:a16="http://schemas.microsoft.com/office/drawing/2014/main" id="{7F642075-0C13-9F20-E8D2-F77045F847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B68906-EE40-0FFC-FEB6-262032291234}"/>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4110268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99D28-F986-30F0-83CA-87B78FE397E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1850E9-93C1-ECA1-706F-F586186D4099}"/>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4" name="Footer Placeholder 3">
            <a:extLst>
              <a:ext uri="{FF2B5EF4-FFF2-40B4-BE49-F238E27FC236}">
                <a16:creationId xmlns:a16="http://schemas.microsoft.com/office/drawing/2014/main" id="{31FB648E-A4BE-F422-F4BC-87729E3D35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A10CAD-BAB9-408D-3F35-23D941C39418}"/>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3434733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C0C921-C5DC-D855-1C7D-05F69D940BC8}"/>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3" name="Footer Placeholder 2">
            <a:extLst>
              <a:ext uri="{FF2B5EF4-FFF2-40B4-BE49-F238E27FC236}">
                <a16:creationId xmlns:a16="http://schemas.microsoft.com/office/drawing/2014/main" id="{8DE88745-C1EA-AA8D-B560-2B10E2FBF0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3D2C74-1EEC-E037-AD07-C935E6A59F89}"/>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325556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3EC77-4B64-5EA2-DE9C-C7499B5AAB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35A5A4-0A3A-D89F-B62A-71FB849CA7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059E8D-561E-B734-EF9C-89E70604A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7E3A95-A269-1D7C-E149-DBF83F119928}"/>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6" name="Footer Placeholder 5">
            <a:extLst>
              <a:ext uri="{FF2B5EF4-FFF2-40B4-BE49-F238E27FC236}">
                <a16:creationId xmlns:a16="http://schemas.microsoft.com/office/drawing/2014/main" id="{C3721223-E006-CAC2-411B-72D4E9080B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AA2E0B-83F2-1FD8-E63D-A59CEFDF1291}"/>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3650959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13A93-B0DF-6FF7-ABFA-674A51B2F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E87AC-9584-7187-C4B4-4BAAB8734F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5B771-7DB8-230D-4421-D0EB8AF8E0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8FEEAE-F319-DB9D-A04C-B2E25BA7393A}"/>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6" name="Footer Placeholder 5">
            <a:extLst>
              <a:ext uri="{FF2B5EF4-FFF2-40B4-BE49-F238E27FC236}">
                <a16:creationId xmlns:a16="http://schemas.microsoft.com/office/drawing/2014/main" id="{25D37189-589B-8307-5F2C-6C72D1D22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15C1E7-2BA5-F729-CAB2-EFA3DFEC2947}"/>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164691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FC962-2D80-1000-5196-38034222F0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F44259-333D-2333-05AE-2BF6569D5A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86282-0211-53C5-0C2B-DFFA0FDE1A6D}"/>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5" name="Footer Placeholder 4">
            <a:extLst>
              <a:ext uri="{FF2B5EF4-FFF2-40B4-BE49-F238E27FC236}">
                <a16:creationId xmlns:a16="http://schemas.microsoft.com/office/drawing/2014/main" id="{8C6AE67F-77E2-4407-583F-FFE0A9B07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53D44-FBA4-5838-3244-D768470EFBF9}"/>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1615396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A0215D-223D-D123-0832-2B0DF38337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B6BF01-7D2E-D074-3047-14AE6F2E91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D2792-BA45-F10B-0924-D4B8798D5B26}"/>
              </a:ext>
            </a:extLst>
          </p:cNvPr>
          <p:cNvSpPr>
            <a:spLocks noGrp="1"/>
          </p:cNvSpPr>
          <p:nvPr>
            <p:ph type="dt" sz="half" idx="10"/>
          </p:nvPr>
        </p:nvSpPr>
        <p:spPr/>
        <p:txBody>
          <a:bodyPr/>
          <a:lstStyle/>
          <a:p>
            <a:fld id="{E9A350B1-76FC-B149-B6BF-97C443BB5604}" type="datetimeFigureOut">
              <a:rPr lang="en-US" smtClean="0"/>
              <a:t>12/1/23</a:t>
            </a:fld>
            <a:endParaRPr lang="en-US"/>
          </a:p>
        </p:txBody>
      </p:sp>
      <p:sp>
        <p:nvSpPr>
          <p:cNvPr id="5" name="Footer Placeholder 4">
            <a:extLst>
              <a:ext uri="{FF2B5EF4-FFF2-40B4-BE49-F238E27FC236}">
                <a16:creationId xmlns:a16="http://schemas.microsoft.com/office/drawing/2014/main" id="{EDB4130B-131D-8E95-5878-A8546439A7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5FA302-ABEF-2942-83A3-EF940CB4D33A}"/>
              </a:ext>
            </a:extLst>
          </p:cNvPr>
          <p:cNvSpPr>
            <a:spLocks noGrp="1"/>
          </p:cNvSpPr>
          <p:nvPr>
            <p:ph type="sldNum" sz="quarter" idx="12"/>
          </p:nvPr>
        </p:nvSpPr>
        <p:spPr/>
        <p:txBody>
          <a:bodyPr/>
          <a:lstStyle/>
          <a:p>
            <a:fld id="{4ED9002C-9349-8A40-980B-3F67A97CB905}" type="slidenum">
              <a:rPr lang="en-US" smtClean="0"/>
              <a:t>‹#›</a:t>
            </a:fld>
            <a:endParaRPr lang="en-US"/>
          </a:p>
        </p:txBody>
      </p:sp>
    </p:spTree>
    <p:extLst>
      <p:ext uri="{BB962C8B-B14F-4D97-AF65-F5344CB8AC3E}">
        <p14:creationId xmlns:p14="http://schemas.microsoft.com/office/powerpoint/2010/main" val="2657831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84800-F9E8-17DF-0658-957DCF91BE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DEAE93-A857-BA9A-440E-AD0CAD9343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F67E09-8C74-049E-7E36-F07798239E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A350B1-76FC-B149-B6BF-97C443BB5604}" type="datetimeFigureOut">
              <a:rPr lang="en-US" smtClean="0"/>
              <a:t>12/1/23</a:t>
            </a:fld>
            <a:endParaRPr lang="en-US"/>
          </a:p>
        </p:txBody>
      </p:sp>
      <p:sp>
        <p:nvSpPr>
          <p:cNvPr id="5" name="Footer Placeholder 4">
            <a:extLst>
              <a:ext uri="{FF2B5EF4-FFF2-40B4-BE49-F238E27FC236}">
                <a16:creationId xmlns:a16="http://schemas.microsoft.com/office/drawing/2014/main" id="{56F0A409-FBE9-7736-5339-2D96D19997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F445B5-D81C-9723-C939-6CD44F5E0C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D9002C-9349-8A40-980B-3F67A97CB905}" type="slidenum">
              <a:rPr lang="en-US" smtClean="0"/>
              <a:t>‹#›</a:t>
            </a:fld>
            <a:endParaRPr lang="en-US"/>
          </a:p>
        </p:txBody>
      </p:sp>
    </p:spTree>
    <p:extLst>
      <p:ext uri="{BB962C8B-B14F-4D97-AF65-F5344CB8AC3E}">
        <p14:creationId xmlns:p14="http://schemas.microsoft.com/office/powerpoint/2010/main" val="4278755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colab.research.google.com/drive/11m0hIMfVXw3ZG2mT3tQngXdAt2doR1O_?usp=shar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8344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9D02B9-E868-15D7-0D9F-6D181454E9A1}"/>
              </a:ext>
            </a:extLst>
          </p:cNvPr>
          <p:cNvSpPr>
            <a:spLocks noGrp="1"/>
          </p:cNvSpPr>
          <p:nvPr>
            <p:ph type="ctrTitle"/>
          </p:nvPr>
        </p:nvSpPr>
        <p:spPr>
          <a:xfrm>
            <a:off x="1155558" y="637762"/>
            <a:ext cx="4284397" cy="5576770"/>
          </a:xfrm>
        </p:spPr>
        <p:txBody>
          <a:bodyPr anchor="ctr">
            <a:normAutofit/>
          </a:bodyPr>
          <a:lstStyle/>
          <a:p>
            <a:pPr algn="l"/>
            <a:r>
              <a:rPr lang="en-US" sz="6600">
                <a:solidFill>
                  <a:schemeClr val="bg1"/>
                </a:solidFill>
              </a:rPr>
              <a:t>Education using Physical Restraints</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C6FCC5F-6D54-E2E7-E325-E088603B41D7}"/>
              </a:ext>
            </a:extLst>
          </p:cNvPr>
          <p:cNvSpPr>
            <a:spLocks noGrp="1"/>
          </p:cNvSpPr>
          <p:nvPr>
            <p:ph type="subTitle" idx="1"/>
          </p:nvPr>
        </p:nvSpPr>
        <p:spPr>
          <a:xfrm>
            <a:off x="6739464" y="637762"/>
            <a:ext cx="4305881" cy="5860946"/>
          </a:xfrm>
        </p:spPr>
        <p:txBody>
          <a:bodyPr anchor="ctr">
            <a:normAutofit/>
          </a:bodyPr>
          <a:lstStyle/>
          <a:p>
            <a:pPr algn="l"/>
            <a:r>
              <a:rPr lang="en-US" sz="4000"/>
              <a:t>Analysis done by Drew Olson</a:t>
            </a:r>
          </a:p>
        </p:txBody>
      </p:sp>
    </p:spTree>
    <p:extLst>
      <p:ext uri="{BB962C8B-B14F-4D97-AF65-F5344CB8AC3E}">
        <p14:creationId xmlns:p14="http://schemas.microsoft.com/office/powerpoint/2010/main" val="417471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3EA1A8-CE85-84CF-844B-E44E225F8829}"/>
              </a:ext>
            </a:extLst>
          </p:cNvPr>
          <p:cNvSpPr>
            <a:spLocks noGrp="1"/>
          </p:cNvSpPr>
          <p:nvPr>
            <p:ph type="title"/>
          </p:nvPr>
        </p:nvSpPr>
        <p:spPr>
          <a:xfrm>
            <a:off x="1156851" y="637762"/>
            <a:ext cx="4270588" cy="5576770"/>
          </a:xfrm>
        </p:spPr>
        <p:txBody>
          <a:bodyPr anchor="t">
            <a:normAutofit/>
          </a:bodyPr>
          <a:lstStyle/>
          <a:p>
            <a:r>
              <a:rPr lang="en-US" sz="6600">
                <a:solidFill>
                  <a:schemeClr val="bg1"/>
                </a:solidFill>
              </a:rPr>
              <a:t>Overview</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8D57F1-BCDE-9F32-773F-7422CAEFBDB0}"/>
              </a:ext>
            </a:extLst>
          </p:cNvPr>
          <p:cNvSpPr>
            <a:spLocks noGrp="1"/>
          </p:cNvSpPr>
          <p:nvPr>
            <p:ph idx="1"/>
          </p:nvPr>
        </p:nvSpPr>
        <p:spPr>
          <a:xfrm>
            <a:off x="6734648" y="841904"/>
            <a:ext cx="4310700" cy="5335059"/>
          </a:xfrm>
        </p:spPr>
        <p:txBody>
          <a:bodyPr>
            <a:normAutofit/>
          </a:bodyPr>
          <a:lstStyle/>
          <a:p>
            <a:r>
              <a:rPr lang="en-US" sz="2400"/>
              <a:t>What is the Study About?</a:t>
            </a:r>
          </a:p>
          <a:p>
            <a:r>
              <a:rPr lang="en-US" sz="2400"/>
              <a:t>What kind of tests did I do? </a:t>
            </a:r>
          </a:p>
          <a:p>
            <a:r>
              <a:rPr lang="en-US" sz="2400"/>
              <a:t>What were the results?</a:t>
            </a:r>
          </a:p>
        </p:txBody>
      </p:sp>
    </p:spTree>
    <p:extLst>
      <p:ext uri="{BB962C8B-B14F-4D97-AF65-F5344CB8AC3E}">
        <p14:creationId xmlns:p14="http://schemas.microsoft.com/office/powerpoint/2010/main" val="200651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116551-4F3F-682B-090B-B86F25A5FDCD}"/>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What was it about?</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F460096-EAF4-3BC9-6F74-53D59905A98B}"/>
              </a:ext>
            </a:extLst>
          </p:cNvPr>
          <p:cNvSpPr>
            <a:spLocks noGrp="1"/>
          </p:cNvSpPr>
          <p:nvPr>
            <p:ph idx="1"/>
          </p:nvPr>
        </p:nvSpPr>
        <p:spPr>
          <a:xfrm>
            <a:off x="1155548" y="2217343"/>
            <a:ext cx="9880893" cy="3959619"/>
          </a:xfrm>
        </p:spPr>
        <p:txBody>
          <a:bodyPr>
            <a:normAutofit/>
          </a:bodyPr>
          <a:lstStyle/>
          <a:p>
            <a:pPr marL="0" indent="0">
              <a:buNone/>
            </a:pPr>
            <a:r>
              <a:rPr lang="en-US" sz="2400"/>
              <a:t>Initial Problem: The risk with using physical restraints was too high</a:t>
            </a:r>
          </a:p>
          <a:p>
            <a:pPr marL="0" indent="0">
              <a:buNone/>
            </a:pPr>
            <a:endParaRPr lang="en-US" sz="2400"/>
          </a:p>
          <a:p>
            <a:pPr marL="0" indent="0">
              <a:buNone/>
            </a:pPr>
            <a:r>
              <a:rPr lang="en-US" sz="2400"/>
              <a:t>Research Question: Did the simulation-based education help increase understanding and confidence in using restraints? </a:t>
            </a:r>
          </a:p>
          <a:p>
            <a:pPr marL="0" indent="0">
              <a:buNone/>
            </a:pPr>
            <a:endParaRPr lang="en-US" sz="2400"/>
          </a:p>
          <a:p>
            <a:pPr marL="0" indent="0">
              <a:buNone/>
            </a:pPr>
            <a:r>
              <a:rPr lang="en-US" sz="2400"/>
              <a:t>Data: The data was set up as a pre-post survey</a:t>
            </a:r>
          </a:p>
          <a:p>
            <a:pPr marL="0" indent="0">
              <a:buNone/>
            </a:pPr>
            <a:endParaRPr lang="en-US" sz="2400"/>
          </a:p>
        </p:txBody>
      </p:sp>
    </p:spTree>
    <p:extLst>
      <p:ext uri="{BB962C8B-B14F-4D97-AF65-F5344CB8AC3E}">
        <p14:creationId xmlns:p14="http://schemas.microsoft.com/office/powerpoint/2010/main" val="773731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C21042-E28C-4FED-89D6-6D514EC854A4}"/>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Methods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E67E3230-325F-5B28-EC77-5C9E09F8FE1E}"/>
              </a:ext>
            </a:extLst>
          </p:cNvPr>
          <p:cNvSpPr>
            <a:spLocks noGrp="1"/>
          </p:cNvSpPr>
          <p:nvPr>
            <p:ph idx="1"/>
          </p:nvPr>
        </p:nvSpPr>
        <p:spPr>
          <a:xfrm>
            <a:off x="1155548" y="2217343"/>
            <a:ext cx="9880893" cy="3959619"/>
          </a:xfrm>
        </p:spPr>
        <p:txBody>
          <a:bodyPr>
            <a:normAutofit/>
          </a:bodyPr>
          <a:lstStyle/>
          <a:p>
            <a:r>
              <a:rPr lang="en-US" sz="2400" dirty="0"/>
              <a:t>I used a t-test on this data since the goal was to determine if there was a change pre-post. </a:t>
            </a:r>
          </a:p>
          <a:p>
            <a:endParaRPr lang="en-US" sz="2400" dirty="0"/>
          </a:p>
          <a:p>
            <a:r>
              <a:rPr lang="en-US" sz="2400" dirty="0"/>
              <a:t>A t-test is test that determines if the results are genuine or if they happened by chance/are a fluke. </a:t>
            </a:r>
          </a:p>
        </p:txBody>
      </p:sp>
    </p:spTree>
    <p:extLst>
      <p:ext uri="{BB962C8B-B14F-4D97-AF65-F5344CB8AC3E}">
        <p14:creationId xmlns:p14="http://schemas.microsoft.com/office/powerpoint/2010/main" val="12520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8AD79B-A173-0245-95BF-0987EC4130A3}"/>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rPr>
              <a:t>Results</a:t>
            </a:r>
          </a:p>
        </p:txBody>
      </p:sp>
    </p:spTree>
    <p:extLst>
      <p:ext uri="{BB962C8B-B14F-4D97-AF65-F5344CB8AC3E}">
        <p14:creationId xmlns:p14="http://schemas.microsoft.com/office/powerpoint/2010/main" val="320750113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561A5-3B2E-FD71-7125-2325208DAE16}"/>
              </a:ext>
            </a:extLst>
          </p:cNvPr>
          <p:cNvSpPr>
            <a:spLocks noGrp="1"/>
          </p:cNvSpPr>
          <p:nvPr>
            <p:ph type="title"/>
          </p:nvPr>
        </p:nvSpPr>
        <p:spPr>
          <a:xfrm>
            <a:off x="1156851" y="637762"/>
            <a:ext cx="4270588" cy="5576770"/>
          </a:xfrm>
        </p:spPr>
        <p:txBody>
          <a:bodyPr anchor="t">
            <a:normAutofit/>
          </a:bodyPr>
          <a:lstStyle/>
          <a:p>
            <a:r>
              <a:rPr lang="en-US" sz="6600">
                <a:solidFill>
                  <a:schemeClr val="bg1"/>
                </a:solidFill>
              </a:rPr>
              <a:t>Q1</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DDACB1-F4F4-9D6C-8BE1-615BC7DC583B}"/>
              </a:ext>
            </a:extLst>
          </p:cNvPr>
          <p:cNvSpPr>
            <a:spLocks noGrp="1"/>
          </p:cNvSpPr>
          <p:nvPr>
            <p:ph idx="1"/>
          </p:nvPr>
        </p:nvSpPr>
        <p:spPr>
          <a:xfrm>
            <a:off x="6734648" y="841904"/>
            <a:ext cx="4310700" cy="5335059"/>
          </a:xfrm>
        </p:spPr>
        <p:txBody>
          <a:bodyPr>
            <a:normAutofit lnSpcReduction="10000"/>
          </a:bodyPr>
          <a:lstStyle/>
          <a:p>
            <a:pPr marL="0" indent="0">
              <a:buNone/>
            </a:pPr>
            <a:r>
              <a:rPr lang="en-US" sz="2400" dirty="0"/>
              <a:t>Question: I feel confident to use a chair restraint. </a:t>
            </a:r>
          </a:p>
          <a:p>
            <a:pPr marL="0" indent="0">
              <a:buNone/>
            </a:pPr>
            <a:endParaRPr lang="en-US" sz="2400" dirty="0"/>
          </a:p>
          <a:p>
            <a:r>
              <a:rPr lang="en-US" sz="2400" dirty="0"/>
              <a:t>Mean Pre: 3.41</a:t>
            </a:r>
          </a:p>
          <a:p>
            <a:r>
              <a:rPr lang="en-US" sz="2400" dirty="0"/>
              <a:t>Mean Post: 4.50</a:t>
            </a:r>
          </a:p>
          <a:p>
            <a:r>
              <a:rPr lang="en-US" sz="2400" dirty="0"/>
              <a:t>Mean Diff (pre-post): -1.09</a:t>
            </a:r>
          </a:p>
          <a:p>
            <a:r>
              <a:rPr lang="en-US" sz="2400" dirty="0"/>
              <a:t>P-value: &lt;0.001</a:t>
            </a:r>
          </a:p>
          <a:p>
            <a:endParaRPr lang="en-US" sz="2400" dirty="0"/>
          </a:p>
          <a:p>
            <a:pPr marL="0" indent="0">
              <a:buNone/>
            </a:pPr>
            <a:r>
              <a:rPr lang="en-US" sz="2400" dirty="0"/>
              <a:t>Was there a change?  Based on the p-value from the t-test there was significant enough change to say that people felt more confident using chair restraints after the education.</a:t>
            </a:r>
          </a:p>
          <a:p>
            <a:pPr marL="0" indent="0">
              <a:buNone/>
            </a:pPr>
            <a:endParaRPr lang="en-US" sz="2400" dirty="0"/>
          </a:p>
        </p:txBody>
      </p:sp>
    </p:spTree>
    <p:extLst>
      <p:ext uri="{BB962C8B-B14F-4D97-AF65-F5344CB8AC3E}">
        <p14:creationId xmlns:p14="http://schemas.microsoft.com/office/powerpoint/2010/main" val="136910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561A5-3B2E-FD71-7125-2325208DAE16}"/>
              </a:ext>
            </a:extLst>
          </p:cNvPr>
          <p:cNvSpPr>
            <a:spLocks noGrp="1"/>
          </p:cNvSpPr>
          <p:nvPr>
            <p:ph type="title"/>
          </p:nvPr>
        </p:nvSpPr>
        <p:spPr>
          <a:xfrm>
            <a:off x="1156851" y="637762"/>
            <a:ext cx="4270588" cy="5576770"/>
          </a:xfrm>
        </p:spPr>
        <p:txBody>
          <a:bodyPr anchor="t">
            <a:normAutofit/>
          </a:bodyPr>
          <a:lstStyle/>
          <a:p>
            <a:r>
              <a:rPr lang="en-US" sz="6600" dirty="0">
                <a:solidFill>
                  <a:schemeClr val="bg1"/>
                </a:solidFill>
              </a:rPr>
              <a:t>Q2</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DDACB1-F4F4-9D6C-8BE1-615BC7DC583B}"/>
              </a:ext>
            </a:extLst>
          </p:cNvPr>
          <p:cNvSpPr>
            <a:spLocks noGrp="1"/>
          </p:cNvSpPr>
          <p:nvPr>
            <p:ph idx="1"/>
          </p:nvPr>
        </p:nvSpPr>
        <p:spPr>
          <a:xfrm>
            <a:off x="6734648" y="841904"/>
            <a:ext cx="4310700" cy="5335059"/>
          </a:xfrm>
        </p:spPr>
        <p:txBody>
          <a:bodyPr>
            <a:normAutofit lnSpcReduction="10000"/>
          </a:bodyPr>
          <a:lstStyle/>
          <a:p>
            <a:pPr marL="0" indent="0">
              <a:buNone/>
            </a:pPr>
            <a:r>
              <a:rPr lang="en-US" sz="2400" dirty="0"/>
              <a:t>Question: I feel confident to use wrist restraints.</a:t>
            </a:r>
          </a:p>
          <a:p>
            <a:pPr marL="0" indent="0">
              <a:buNone/>
            </a:pPr>
            <a:endParaRPr lang="en-US" sz="2400" dirty="0"/>
          </a:p>
          <a:p>
            <a:r>
              <a:rPr lang="en-US" sz="2400" dirty="0"/>
              <a:t>Mean Pre: 3.30</a:t>
            </a:r>
          </a:p>
          <a:p>
            <a:r>
              <a:rPr lang="en-US" sz="2400" dirty="0"/>
              <a:t>Mean Post: 4.71</a:t>
            </a:r>
          </a:p>
          <a:p>
            <a:r>
              <a:rPr lang="en-US" sz="2400" dirty="0"/>
              <a:t>Mean Diff (pre-post): -1.41</a:t>
            </a:r>
          </a:p>
          <a:p>
            <a:r>
              <a:rPr lang="en-US" sz="2400" dirty="0"/>
              <a:t>P-value:  &lt;0.001</a:t>
            </a:r>
          </a:p>
          <a:p>
            <a:endParaRPr lang="en-US" sz="2400" dirty="0"/>
          </a:p>
          <a:p>
            <a:pPr marL="0" indent="0">
              <a:buNone/>
            </a:pPr>
            <a:r>
              <a:rPr lang="en-US" sz="2400" dirty="0"/>
              <a:t>Was there a change? Based on the p-value from the t-test there was significant enough change to say that people felt more confident using wrist restraints after the education.</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2276686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561A5-3B2E-FD71-7125-2325208DAE16}"/>
              </a:ext>
            </a:extLst>
          </p:cNvPr>
          <p:cNvSpPr>
            <a:spLocks noGrp="1"/>
          </p:cNvSpPr>
          <p:nvPr>
            <p:ph type="title"/>
          </p:nvPr>
        </p:nvSpPr>
        <p:spPr>
          <a:xfrm>
            <a:off x="1156851" y="637762"/>
            <a:ext cx="4270588" cy="5576770"/>
          </a:xfrm>
        </p:spPr>
        <p:txBody>
          <a:bodyPr anchor="t">
            <a:normAutofit/>
          </a:bodyPr>
          <a:lstStyle/>
          <a:p>
            <a:r>
              <a:rPr lang="en-US" sz="6600">
                <a:solidFill>
                  <a:schemeClr val="bg1"/>
                </a:solidFill>
              </a:rPr>
              <a:t>Q3</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DDACB1-F4F4-9D6C-8BE1-615BC7DC583B}"/>
              </a:ext>
            </a:extLst>
          </p:cNvPr>
          <p:cNvSpPr>
            <a:spLocks noGrp="1"/>
          </p:cNvSpPr>
          <p:nvPr>
            <p:ph idx="1"/>
          </p:nvPr>
        </p:nvSpPr>
        <p:spPr>
          <a:xfrm>
            <a:off x="6734648" y="841904"/>
            <a:ext cx="4310700" cy="5335059"/>
          </a:xfrm>
        </p:spPr>
        <p:txBody>
          <a:bodyPr>
            <a:normAutofit lnSpcReduction="10000"/>
          </a:bodyPr>
          <a:lstStyle/>
          <a:p>
            <a:pPr marL="0" indent="0">
              <a:buNone/>
            </a:pPr>
            <a:r>
              <a:rPr lang="en-US" sz="2400" dirty="0"/>
              <a:t>Question: I feel confident to use a locking bed restraint.</a:t>
            </a:r>
          </a:p>
          <a:p>
            <a:pPr marL="0" indent="0">
              <a:buNone/>
            </a:pPr>
            <a:endParaRPr lang="en-US" sz="2400" dirty="0"/>
          </a:p>
          <a:p>
            <a:r>
              <a:rPr lang="en-US" sz="2400" dirty="0"/>
              <a:t>Mean Pre: 2.80</a:t>
            </a:r>
          </a:p>
          <a:p>
            <a:r>
              <a:rPr lang="en-US" sz="2400" dirty="0"/>
              <a:t>Mean Post: 4.64</a:t>
            </a:r>
          </a:p>
          <a:p>
            <a:r>
              <a:rPr lang="en-US" sz="2400" dirty="0"/>
              <a:t>Mean Diff (pre-post): -1.84</a:t>
            </a:r>
          </a:p>
          <a:p>
            <a:r>
              <a:rPr lang="en-US" sz="2400" dirty="0"/>
              <a:t>P-value:  &lt;0.001</a:t>
            </a:r>
          </a:p>
          <a:p>
            <a:endParaRPr lang="en-US" sz="2400" dirty="0"/>
          </a:p>
          <a:p>
            <a:pPr marL="0" indent="0">
              <a:buNone/>
            </a:pPr>
            <a:r>
              <a:rPr lang="en-US" sz="2400" dirty="0"/>
              <a:t>Was there a change? Based on the p-value from the t-test there was significant enough change to say that people felt more confident using a locking bed restraint after the education.</a:t>
            </a:r>
          </a:p>
          <a:p>
            <a:pPr marL="0" indent="0">
              <a:buNone/>
            </a:pPr>
            <a:endParaRPr lang="en-US" sz="2400" dirty="0"/>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3028448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561A5-3B2E-FD71-7125-2325208DAE16}"/>
              </a:ext>
            </a:extLst>
          </p:cNvPr>
          <p:cNvSpPr>
            <a:spLocks noGrp="1"/>
          </p:cNvSpPr>
          <p:nvPr>
            <p:ph type="title"/>
          </p:nvPr>
        </p:nvSpPr>
        <p:spPr>
          <a:xfrm>
            <a:off x="1156851" y="637762"/>
            <a:ext cx="4270588" cy="5576770"/>
          </a:xfrm>
        </p:spPr>
        <p:txBody>
          <a:bodyPr anchor="t">
            <a:normAutofit/>
          </a:bodyPr>
          <a:lstStyle/>
          <a:p>
            <a:r>
              <a:rPr lang="en-US" sz="6600">
                <a:solidFill>
                  <a:schemeClr val="bg1"/>
                </a:solidFill>
              </a:rPr>
              <a:t>Q4</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DDACB1-F4F4-9D6C-8BE1-615BC7DC583B}"/>
              </a:ext>
            </a:extLst>
          </p:cNvPr>
          <p:cNvSpPr>
            <a:spLocks noGrp="1"/>
          </p:cNvSpPr>
          <p:nvPr>
            <p:ph idx="1"/>
          </p:nvPr>
        </p:nvSpPr>
        <p:spPr>
          <a:xfrm>
            <a:off x="6734648" y="841904"/>
            <a:ext cx="4310700" cy="5335059"/>
          </a:xfrm>
        </p:spPr>
        <p:txBody>
          <a:bodyPr>
            <a:normAutofit fontScale="92500" lnSpcReduction="10000"/>
          </a:bodyPr>
          <a:lstStyle/>
          <a:p>
            <a:pPr marL="0" indent="0">
              <a:buNone/>
            </a:pPr>
            <a:r>
              <a:rPr lang="en-US" sz="2400" dirty="0"/>
              <a:t>Question: I feel confident in knowing when to use physical restraints.</a:t>
            </a:r>
          </a:p>
          <a:p>
            <a:pPr marL="0" indent="0">
              <a:buNone/>
            </a:pPr>
            <a:endParaRPr lang="en-US" sz="2400" dirty="0"/>
          </a:p>
          <a:p>
            <a:r>
              <a:rPr lang="en-US" sz="2400" dirty="0"/>
              <a:t>Mean Pre: 3.86</a:t>
            </a:r>
          </a:p>
          <a:p>
            <a:r>
              <a:rPr lang="en-US" sz="2400" dirty="0"/>
              <a:t>Mean Post: 4.66</a:t>
            </a:r>
          </a:p>
          <a:p>
            <a:r>
              <a:rPr lang="en-US" sz="2400" dirty="0"/>
              <a:t>Mean Diff (pre-post): -0.80</a:t>
            </a:r>
          </a:p>
          <a:p>
            <a:r>
              <a:rPr lang="en-US" sz="2400" dirty="0"/>
              <a:t>P-value:  &lt;0.001</a:t>
            </a:r>
          </a:p>
          <a:p>
            <a:endParaRPr lang="en-US" sz="2400" dirty="0"/>
          </a:p>
          <a:p>
            <a:pPr marL="0" indent="0">
              <a:buNone/>
            </a:pPr>
            <a:r>
              <a:rPr lang="en-US" sz="2400" dirty="0"/>
              <a:t>Was there a change? Based on the p-value from the t-test there was a significant enough change to say that people felt more confident in their understanding of when to use physical restraints after the education.</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111112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561A5-3B2E-FD71-7125-2325208DAE16}"/>
              </a:ext>
            </a:extLst>
          </p:cNvPr>
          <p:cNvSpPr>
            <a:spLocks noGrp="1"/>
          </p:cNvSpPr>
          <p:nvPr>
            <p:ph type="title"/>
          </p:nvPr>
        </p:nvSpPr>
        <p:spPr>
          <a:xfrm>
            <a:off x="1156851" y="637762"/>
            <a:ext cx="4270588" cy="5576770"/>
          </a:xfrm>
        </p:spPr>
        <p:txBody>
          <a:bodyPr anchor="t">
            <a:normAutofit/>
          </a:bodyPr>
          <a:lstStyle/>
          <a:p>
            <a:r>
              <a:rPr lang="en-US" sz="6600" dirty="0">
                <a:solidFill>
                  <a:schemeClr val="bg1"/>
                </a:solidFill>
              </a:rPr>
              <a:t>Q5</a:t>
            </a: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DDACB1-F4F4-9D6C-8BE1-615BC7DC583B}"/>
              </a:ext>
            </a:extLst>
          </p:cNvPr>
          <p:cNvSpPr>
            <a:spLocks noGrp="1"/>
          </p:cNvSpPr>
          <p:nvPr>
            <p:ph idx="1"/>
          </p:nvPr>
        </p:nvSpPr>
        <p:spPr>
          <a:xfrm>
            <a:off x="6734648" y="841904"/>
            <a:ext cx="4310700" cy="5335059"/>
          </a:xfrm>
        </p:spPr>
        <p:txBody>
          <a:bodyPr>
            <a:normAutofit fontScale="92500" lnSpcReduction="20000"/>
          </a:bodyPr>
          <a:lstStyle/>
          <a:p>
            <a:pPr marL="0" indent="0">
              <a:buNone/>
            </a:pPr>
            <a:r>
              <a:rPr lang="en-US" sz="2400" dirty="0"/>
              <a:t>Question: I feel confident in knowing when to use a chair restraint versus a locking bed restraint. </a:t>
            </a:r>
          </a:p>
          <a:p>
            <a:pPr marL="0" indent="0">
              <a:buNone/>
            </a:pPr>
            <a:endParaRPr lang="en-US" sz="2400" dirty="0"/>
          </a:p>
          <a:p>
            <a:r>
              <a:rPr lang="en-US" sz="2400" dirty="0"/>
              <a:t>Mean Pre: 3.25</a:t>
            </a:r>
          </a:p>
          <a:p>
            <a:r>
              <a:rPr lang="en-US" sz="2400" dirty="0"/>
              <a:t>Mean Post: 4.77</a:t>
            </a:r>
          </a:p>
          <a:p>
            <a:r>
              <a:rPr lang="en-US" sz="2400" dirty="0"/>
              <a:t>Mean Diff (pre-post): -1.52</a:t>
            </a:r>
          </a:p>
          <a:p>
            <a:r>
              <a:rPr lang="en-US" sz="2400" dirty="0"/>
              <a:t>P-value:  &lt;0.001</a:t>
            </a:r>
          </a:p>
          <a:p>
            <a:endParaRPr lang="en-US" sz="2400" dirty="0"/>
          </a:p>
          <a:p>
            <a:pPr marL="0" indent="0">
              <a:buNone/>
            </a:pPr>
            <a:r>
              <a:rPr lang="en-US" sz="2400" dirty="0"/>
              <a:t>Was there a change? Based on the p-value from the t-test there was a significant enough change to say that people felt more confident in their understanding of when to use a chair restraint versus when to use a locking bed restraint after the education.</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3306709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16A633-861B-58D4-3D6C-8F90B1835344}"/>
              </a:ext>
            </a:extLst>
          </p:cNvPr>
          <p:cNvSpPr>
            <a:spLocks noGrp="1"/>
          </p:cNvSpPr>
          <p:nvPr>
            <p:ph type="title"/>
          </p:nvPr>
        </p:nvSpPr>
        <p:spPr>
          <a:xfrm>
            <a:off x="1156851" y="637762"/>
            <a:ext cx="9888496" cy="900131"/>
          </a:xfrm>
        </p:spPr>
        <p:txBody>
          <a:bodyPr anchor="t">
            <a:normAutofit/>
          </a:bodyPr>
          <a:lstStyle/>
          <a:p>
            <a:r>
              <a:rPr lang="en-US" sz="4000" dirty="0">
                <a:solidFill>
                  <a:schemeClr val="bg1"/>
                </a:solidFill>
              </a:rPr>
              <a:t>Final Results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61F5082-309C-907D-3BD9-56A26C0A1D5B}"/>
              </a:ext>
            </a:extLst>
          </p:cNvPr>
          <p:cNvSpPr>
            <a:spLocks noGrp="1"/>
          </p:cNvSpPr>
          <p:nvPr>
            <p:ph idx="1"/>
          </p:nvPr>
        </p:nvSpPr>
        <p:spPr>
          <a:xfrm>
            <a:off x="1155548" y="2217343"/>
            <a:ext cx="9880893" cy="3959619"/>
          </a:xfrm>
        </p:spPr>
        <p:txBody>
          <a:bodyPr>
            <a:normAutofit/>
          </a:bodyPr>
          <a:lstStyle/>
          <a:p>
            <a:r>
              <a:rPr lang="en-US" sz="2400" dirty="0"/>
              <a:t>Overall, the education was a success. To accurately say that the education produced valid results that weren’t a fluke the p-values had to be lower than 0.05 which all of them were. This means that the subjects felt more confident in their ability to use restraints. This should also help reduce the risk involved with using restraints. </a:t>
            </a:r>
          </a:p>
        </p:txBody>
      </p:sp>
    </p:spTree>
    <p:extLst>
      <p:ext uri="{BB962C8B-B14F-4D97-AF65-F5344CB8AC3E}">
        <p14:creationId xmlns:p14="http://schemas.microsoft.com/office/powerpoint/2010/main" val="1389233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4B547-0453-0C9A-77CD-CD61B1C2D5A8}"/>
              </a:ext>
            </a:extLst>
          </p:cNvPr>
          <p:cNvSpPr>
            <a:spLocks noGrp="1"/>
          </p:cNvSpPr>
          <p:nvPr>
            <p:ph type="title"/>
          </p:nvPr>
        </p:nvSpPr>
        <p:spPr>
          <a:xfrm>
            <a:off x="1156851" y="637762"/>
            <a:ext cx="9888496" cy="1520377"/>
          </a:xfrm>
        </p:spPr>
        <p:txBody>
          <a:bodyPr anchor="ctr">
            <a:normAutofit/>
          </a:bodyPr>
          <a:lstStyle/>
          <a:p>
            <a:r>
              <a:rPr lang="en-US">
                <a:solidFill>
                  <a:schemeClr val="bg1"/>
                </a:solidFill>
              </a:rPr>
              <a:t>Analysis link</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2898AC5-6699-F46A-2C87-A31C943A7608}"/>
              </a:ext>
            </a:extLst>
          </p:cNvPr>
          <p:cNvSpPr>
            <a:spLocks noGrp="1"/>
          </p:cNvSpPr>
          <p:nvPr>
            <p:ph idx="1"/>
          </p:nvPr>
        </p:nvSpPr>
        <p:spPr>
          <a:xfrm>
            <a:off x="1155559" y="3100283"/>
            <a:ext cx="9889788" cy="3076679"/>
          </a:xfrm>
        </p:spPr>
        <p:txBody>
          <a:bodyPr>
            <a:normAutofit/>
          </a:bodyPr>
          <a:lstStyle/>
          <a:p>
            <a:pPr marL="0" indent="0">
              <a:buNone/>
            </a:pPr>
            <a:r>
              <a:rPr lang="en-US" sz="2400" dirty="0"/>
              <a:t>This is a link to the Google </a:t>
            </a:r>
            <a:r>
              <a:rPr lang="en-US" sz="2400" dirty="0" err="1"/>
              <a:t>Colab</a:t>
            </a:r>
            <a:r>
              <a:rPr lang="en-US" sz="2400" dirty="0"/>
              <a:t> where I did the analysis. </a:t>
            </a:r>
            <a:endParaRPr lang="en-US" sz="2400" dirty="0">
              <a:hlinkClick r:id="rId2"/>
            </a:endParaRPr>
          </a:p>
          <a:p>
            <a:endParaRPr lang="en-US" sz="2400" dirty="0">
              <a:hlinkClick r:id="rId2"/>
            </a:endParaRPr>
          </a:p>
          <a:p>
            <a:pPr marL="0" indent="0">
              <a:buNone/>
            </a:pPr>
            <a:r>
              <a:rPr lang="en-US" sz="2400" dirty="0">
                <a:hlinkClick r:id="rId2"/>
              </a:rPr>
              <a:t>https://colab.research.google.com/drive/11m0hIMfVXw3ZG2mT3tQngXdAt2doR1O_?usp=sharing</a:t>
            </a:r>
            <a:endParaRPr lang="en-US" sz="2400" dirty="0"/>
          </a:p>
        </p:txBody>
      </p:sp>
    </p:spTree>
    <p:extLst>
      <p:ext uri="{BB962C8B-B14F-4D97-AF65-F5344CB8AC3E}">
        <p14:creationId xmlns:p14="http://schemas.microsoft.com/office/powerpoint/2010/main" val="1956551298"/>
      </p:ext>
    </p:extLst>
  </p:cSld>
  <p:clrMapOvr>
    <a:masterClrMapping/>
  </p:clrMapOvr>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559</Words>
  <Application>Microsoft Macintosh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 2013 - 2022</vt:lpstr>
      <vt:lpstr>Education using Physical Restraints</vt:lpstr>
      <vt:lpstr>Overview</vt:lpstr>
      <vt:lpstr>What was it about?</vt:lpstr>
      <vt:lpstr>Methods</vt:lpstr>
      <vt:lpstr>Results</vt:lpstr>
      <vt:lpstr>Q1</vt:lpstr>
      <vt:lpstr>Q2</vt:lpstr>
      <vt:lpstr>Q3</vt:lpstr>
      <vt:lpstr>Q4</vt:lpstr>
      <vt:lpstr>Q5</vt:lpstr>
      <vt:lpstr>Final Results</vt:lpstr>
      <vt:lpstr>Analysis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 using Physical Restraints</dc:title>
  <dc:creator>Olson, Drew I</dc:creator>
  <cp:lastModifiedBy>Olson, Drew I</cp:lastModifiedBy>
  <cp:revision>6</cp:revision>
  <dcterms:created xsi:type="dcterms:W3CDTF">2023-11-27T04:27:13Z</dcterms:created>
  <dcterms:modified xsi:type="dcterms:W3CDTF">2023-12-02T00:11:29Z</dcterms:modified>
</cp:coreProperties>
</file>